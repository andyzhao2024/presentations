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228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698480" y="384048"/>
            <a:ext cx="9144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JOINT MODULE / 电机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电机：动力来源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负责把电能转换成机械能，决定动力上限与动态能力。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4754880" cy="530352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240">
            <a:solidFill>
              <a:srgbClr val="DCE3E8"/>
            </a:solidFill>
            <a:prstDash val="solid"/>
          </a:ln>
          <a:effectLst>
            <a:outerShdw sx="100000" sy="100000" kx="0" ky="0" algn="bl" rotWithShape="0" blurRad="31750" dist="50800" dir="2700000">
              <a:srgbClr val="22313F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234440"/>
            <a:ext cx="2468880" cy="246888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FF6B35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993392"/>
            <a:ext cx="868680" cy="8686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27940" dist="50800" dir="2700000">
              <a:srgbClr val="FF6B35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4069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0" y="45262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小型化、高响应与足够力矩之间存在天然张力，因此电机通常与减速器协同设计。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6B35">
              <a:alpha val="88000"/>
            </a:srgbClr>
          </a:solidFill>
          <a:ln w="12700">
            <a:solidFill>
              <a:srgbClr val="FF6B3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系统角色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动力来源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31720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2A65A">
              <a:alpha val="88000"/>
            </a:srgbClr>
          </a:solidFill>
          <a:ln w="12700">
            <a:solidFill>
              <a:srgbClr val="F2A65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59736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集成关系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59736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需协同设计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5072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25A7B8">
              <a:alpha val="88000"/>
            </a:srgbClr>
          </a:solidFill>
          <a:ln w="12700">
            <a:solidFill>
              <a:srgbClr val="25A7B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33088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工程关键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33088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平衡取舍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023360"/>
            <a:ext cx="9144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电机负责提供最原始的旋转动力，没有电机，关节无法主动运动。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" y="4800600"/>
            <a:ext cx="9144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机器人常用伺服电机，因为不仅要能转，还要能精确控制位置、速度与输出力矩。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" y="5577840"/>
            <a:ext cx="9144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高速电机可以做得更小，但直接驱动时往往力矩不够；低速大力矩电机则通常更重、更贵。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" y="6355080"/>
            <a:ext cx="9144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09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系统层面上，电机特性决定关节能否快速响应、频繁启停，并在高带宽控制下保持稳定。 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0" y="5440680"/>
            <a:ext cx="338328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5559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来源：机器人技术笔记《机器人关节模组一次讲透》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228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698480" y="384048"/>
            <a:ext cx="9144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JOINT MODULE / 减速器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减速器：力矩整形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把高速小力矩变成更适合机器人的低速大力矩输出。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4754880" cy="530352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240">
            <a:solidFill>
              <a:srgbClr val="DCE3E8"/>
            </a:solidFill>
            <a:prstDash val="solid"/>
          </a:ln>
          <a:effectLst>
            <a:outerShdw sx="100000" sy="100000" kx="0" ky="0" algn="bl" rotWithShape="0" blurRad="31750" dist="50800" dir="2700000">
              <a:srgbClr val="22313F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234440"/>
            <a:ext cx="2468880" cy="246888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F2A65A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993392"/>
            <a:ext cx="868680" cy="8686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  <a:effectLst>
            <a:outerShdw sx="100000" sy="100000" kx="0" ky="0" algn="bl" rotWithShape="0" blurRad="27940" dist="50800" dir="2700000">
              <a:srgbClr val="F2A65A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4069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0" y="45262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减速比不是越大越好，必须在输出能力与控制性能之间取平衡。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2A65A">
              <a:alpha val="88000"/>
            </a:srgbClr>
          </a:solidFill>
          <a:ln w="12700">
            <a:solidFill>
              <a:srgbClr val="F2A65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系统角色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力矩整形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31720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2A65A">
              <a:alpha val="88000"/>
            </a:srgbClr>
          </a:solidFill>
          <a:ln w="12700">
            <a:solidFill>
              <a:srgbClr val="F2A65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59736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集成关系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59736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需协同设计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5072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25A7B8">
              <a:alpha val="88000"/>
            </a:srgbClr>
          </a:solidFill>
          <a:ln w="12700">
            <a:solidFill>
              <a:srgbClr val="25A7B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33088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工程关键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33088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平衡取舍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023360"/>
            <a:ext cx="91440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减速器的第一作用是降速增矩，让输出轴转得更慢，但能带动更重的负载。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" y="4800600"/>
            <a:ext cx="91440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减速器的第二作用是提升输出侧控制分辨率，让电机端小角度变化在输出端更可控。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" y="5577840"/>
            <a:ext cx="91440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常见类型包括谐波、RV、行星减速器；其中谐波减速器常用于轻量化、紧凑集成的关节。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" y="6355080"/>
            <a:ext cx="91440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09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减速器同时会引入摩擦、回差、间隙、柔顺性和效率损失，使控制问题更复杂。 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0" y="5440680"/>
            <a:ext cx="338328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5559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来源：机器人技术笔记《机器人关节模组一次讲透》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228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698480" y="384048"/>
            <a:ext cx="9144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JOINT MODULE / 驱动器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驱动器：控制执行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把上层控制目标变成电机可执行的电信号，是算法与硬件之间的桥梁。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4754880" cy="530352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240">
            <a:solidFill>
              <a:srgbClr val="DCE3E8"/>
            </a:solidFill>
            <a:prstDash val="solid"/>
          </a:ln>
          <a:effectLst>
            <a:outerShdw sx="100000" sy="100000" kx="0" ky="0" algn="bl" rotWithShape="0" blurRad="31750" dist="50800" dir="2700000">
              <a:srgbClr val="22313F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234440"/>
            <a:ext cx="2468880" cy="246888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25A7B8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993392"/>
            <a:ext cx="868680" cy="868680"/>
          </a:xfrm>
          <a:prstGeom prst="ellipse">
            <a:avLst/>
          </a:prstGeom>
          <a:solidFill>
            <a:srgbClr val="25A7B8"/>
          </a:solidFill>
          <a:ln w="12700">
            <a:solidFill>
              <a:srgbClr val="25A7B8"/>
            </a:solidFill>
            <a:prstDash val="solid"/>
          </a:ln>
          <a:effectLst>
            <a:outerShdw sx="100000" sy="100000" kx="0" ky="0" algn="bl" rotWithShape="0" blurRad="27940" dist="50800" dir="2700000">
              <a:srgbClr val="25A7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4069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0" y="45262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如果电机决定“能不能动”，驱动器决定的就是“动得好不好”。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25A7B8">
              <a:alpha val="88000"/>
            </a:srgbClr>
          </a:solidFill>
          <a:ln w="12700">
            <a:solidFill>
              <a:srgbClr val="25A7B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系统角色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控制执行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31720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2A65A">
              <a:alpha val="88000"/>
            </a:srgbClr>
          </a:solidFill>
          <a:ln w="12700">
            <a:solidFill>
              <a:srgbClr val="F2A65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59736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集成关系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59736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需协同设计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5072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25A7B8">
              <a:alpha val="88000"/>
            </a:srgbClr>
          </a:solidFill>
          <a:ln w="12700">
            <a:solidFill>
              <a:srgbClr val="25A7B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33088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工程关键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33088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平衡取舍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023360"/>
            <a:ext cx="91440" cy="256032"/>
          </a:xfrm>
          <a:prstGeom prst="rect">
            <a:avLst/>
          </a:prstGeom>
          <a:solidFill>
            <a:srgbClr val="25A7B8"/>
          </a:solidFill>
          <a:ln w="12700">
            <a:solidFill>
              <a:srgbClr val="25A7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电机无法直接理解“转到 30 度”或“保持某个速度”，驱动器负责把目标转换成电流与电压控制。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" y="4800600"/>
            <a:ext cx="91440" cy="256032"/>
          </a:xfrm>
          <a:prstGeom prst="rect">
            <a:avLst/>
          </a:prstGeom>
          <a:solidFill>
            <a:srgbClr val="25A7B8"/>
          </a:solidFill>
          <a:ln w="12700">
            <a:solidFill>
              <a:srgbClr val="25A7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驱动器承担功率驱动任务，把外部供电转换成适合电机工作的形式。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" y="5577840"/>
            <a:ext cx="91440" cy="256032"/>
          </a:xfrm>
          <a:prstGeom prst="rect">
            <a:avLst/>
          </a:prstGeom>
          <a:solidFill>
            <a:srgbClr val="25A7B8"/>
          </a:solidFill>
          <a:ln w="12700">
            <a:solidFill>
              <a:srgbClr val="25A7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驱动器承担闭环控制任务，基于编码器反馈实现电流环、速度环和位置环。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" y="6355080"/>
            <a:ext cx="91440" cy="256032"/>
          </a:xfrm>
          <a:prstGeom prst="rect">
            <a:avLst/>
          </a:prstGeom>
          <a:solidFill>
            <a:srgbClr val="25A7B8"/>
          </a:solidFill>
          <a:ln w="12700">
            <a:solidFill>
              <a:srgbClr val="25A7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09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驱动器通常还集成过流、过温、故障检测和通信接口管理等保护能力。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0" y="5440680"/>
            <a:ext cx="3383280" cy="0"/>
          </a:xfrm>
          <a:prstGeom prst="line">
            <a:avLst/>
          </a:prstGeom>
          <a:noFill/>
          <a:ln w="19050">
            <a:solidFill>
              <a:srgbClr val="25A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5559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来源：机器人技术笔记《机器人关节模组一次讲透》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228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698480" y="384048"/>
            <a:ext cx="9144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JOINT MODULE / 编码器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编码器：状态反馈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让关节知道自己转到哪、转得多快，从而形成闭环控制。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4754880" cy="530352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240">
            <a:solidFill>
              <a:srgbClr val="DCE3E8"/>
            </a:solidFill>
            <a:prstDash val="solid"/>
          </a:ln>
          <a:effectLst>
            <a:outerShdw sx="100000" sy="100000" kx="0" ky="0" algn="bl" rotWithShape="0" blurRad="31750" dist="50800" dir="2700000">
              <a:srgbClr val="22313F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234440"/>
            <a:ext cx="2468880" cy="246888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5571F2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993392"/>
            <a:ext cx="868680" cy="868680"/>
          </a:xfrm>
          <a:prstGeom prst="ellipse">
            <a:avLst/>
          </a:prstGeom>
          <a:solidFill>
            <a:srgbClr val="5571F2"/>
          </a:solidFill>
          <a:ln w="12700">
            <a:solidFill>
              <a:srgbClr val="5571F2"/>
            </a:solidFill>
            <a:prstDash val="solid"/>
          </a:ln>
          <a:effectLst>
            <a:outerShdw sx="100000" sy="100000" kx="0" ky="0" algn="bl" rotWithShape="0" blurRad="27940" dist="50800" dir="2700000">
              <a:srgbClr val="5571F2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4069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0" y="45262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一个关注电机本身怎么转，另一个关注关节最终转到了哪里，两者组合提升精度与稳定性。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5571F2">
              <a:alpha val="88000"/>
            </a:srgbClr>
          </a:solidFill>
          <a:ln w="12700">
            <a:solidFill>
              <a:srgbClr val="5571F2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系统角色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状态反馈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31720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2A65A">
              <a:alpha val="88000"/>
            </a:srgbClr>
          </a:solidFill>
          <a:ln w="12700">
            <a:solidFill>
              <a:srgbClr val="F2A65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59736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集成关系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59736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需协同设计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5072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25A7B8">
              <a:alpha val="88000"/>
            </a:srgbClr>
          </a:solidFill>
          <a:ln w="12700">
            <a:solidFill>
              <a:srgbClr val="25A7B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33088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工程关键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33088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平衡取舍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023360"/>
            <a:ext cx="91440" cy="256032"/>
          </a:xfrm>
          <a:prstGeom prst="rect">
            <a:avLst/>
          </a:prstGeom>
          <a:solidFill>
            <a:srgbClr val="5571F2"/>
          </a:solidFill>
          <a:ln w="12700">
            <a:solidFill>
              <a:srgbClr val="5571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编码器负责测量旋转位置，并可进一步估计速度与方向；没有它，系统只能“盲转”。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" y="4800600"/>
            <a:ext cx="91440" cy="256032"/>
          </a:xfrm>
          <a:prstGeom prst="rect">
            <a:avLst/>
          </a:prstGeom>
          <a:solidFill>
            <a:srgbClr val="5571F2"/>
          </a:solidFill>
          <a:ln w="12700">
            <a:solidFill>
              <a:srgbClr val="5571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电机侧编码器主要服务于换相与伺服控制，帮助驱动器高频、精细地掌握电机状态。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" y="5577840"/>
            <a:ext cx="91440" cy="256032"/>
          </a:xfrm>
          <a:prstGeom prst="rect">
            <a:avLst/>
          </a:prstGeom>
          <a:solidFill>
            <a:srgbClr val="5571F2"/>
          </a:solidFill>
          <a:ln w="12700">
            <a:solidFill>
              <a:srgbClr val="557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输出侧编码器更接近关节实际输出，可直接感知减速器后的真实状态。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" y="6355080"/>
            <a:ext cx="91440" cy="256032"/>
          </a:xfrm>
          <a:prstGeom prst="rect">
            <a:avLst/>
          </a:prstGeom>
          <a:solidFill>
            <a:srgbClr val="5571F2"/>
          </a:solidFill>
          <a:ln w="12700">
            <a:solidFill>
              <a:srgbClr val="5571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09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高性能关节通常不只依赖电机侧测量，因为减速器并不是理想刚体。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0" y="5440680"/>
            <a:ext cx="3383280" cy="0"/>
          </a:xfrm>
          <a:prstGeom prst="line">
            <a:avLst/>
          </a:prstGeom>
          <a:noFill/>
          <a:ln w="19050">
            <a:solidFill>
              <a:srgbClr val="5571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5559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来源：机器人技术笔记《机器人关节模组一次讲透》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228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698480" y="384048"/>
            <a:ext cx="9144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JOINT MODULE / 抱闸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抱闸：安全保持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在断电、故障或抗重力场景下，让关节安全刹住并保持姿态。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4754880" cy="530352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240">
            <a:solidFill>
              <a:srgbClr val="DCE3E8"/>
            </a:solidFill>
            <a:prstDash val="solid"/>
          </a:ln>
          <a:effectLst>
            <a:outerShdw sx="100000" sy="100000" kx="0" ky="0" algn="bl" rotWithShape="0" blurRad="31750" dist="50800" dir="2700000">
              <a:srgbClr val="22313F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234440"/>
            <a:ext cx="2468880" cy="2468880"/>
          </a:xfrm>
          <a:prstGeom prst="arc">
            <a:avLst/>
          </a:prstGeom>
          <a:solidFill>
            <a:srgbClr val="FFFFFF">
              <a:alpha val="0"/>
            </a:srgbClr>
          </a:solidFill>
          <a:ln w="177800">
            <a:solidFill>
              <a:srgbClr val="D9485F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993392"/>
            <a:ext cx="868680" cy="868680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/>
            </a:solidFill>
            <a:prstDash val="solid"/>
          </a:ln>
          <a:effectLst>
            <a:outerShdw sx="100000" sy="100000" kx="0" ky="0" algn="bl" rotWithShape="0" blurRad="27940" dist="50800" dir="2700000">
              <a:srgbClr val="D9485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4069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抱闸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0" y="45262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抱闸更像按需配置的安全部件，而不是每个关节的绝对标配。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D9485F">
              <a:alpha val="88000"/>
            </a:srgbClr>
          </a:solidFill>
          <a:ln w="12700">
            <a:solidFill>
              <a:srgbClr val="D9485F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系统角色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安全保持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31720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2A65A">
              <a:alpha val="88000"/>
            </a:srgbClr>
          </a:solidFill>
          <a:ln w="12700">
            <a:solidFill>
              <a:srgbClr val="F2A65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59736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集成关系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59736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需协同设计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5072" y="28803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25A7B8">
              <a:alpha val="88000"/>
            </a:srgbClr>
          </a:solidFill>
          <a:ln w="12700">
            <a:solidFill>
              <a:srgbClr val="25A7B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F17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33088" y="29900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E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工程关键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33088" y="3172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平衡取舍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023360"/>
            <a:ext cx="91440" cy="256032"/>
          </a:xfrm>
          <a:prstGeom prst="rect">
            <a:avLst/>
          </a:prstGeom>
          <a:solidFill>
            <a:srgbClr val="D9485F"/>
          </a:solidFill>
          <a:ln w="12700">
            <a:solidFill>
              <a:srgbClr val="D948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抱闸通常是电磁制动器，主要用途不是驱动运动，而是让关节在特定情况下保持不动。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" y="4800600"/>
            <a:ext cx="91440" cy="256032"/>
          </a:xfrm>
          <a:prstGeom prst="rect">
            <a:avLst/>
          </a:prstGeom>
          <a:solidFill>
            <a:srgbClr val="D9485F"/>
          </a:solidFill>
          <a:ln w="12700">
            <a:solidFill>
              <a:srgbClr val="D948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典型场景包括断电防止因重力下滑、垂直轴停稳保持，以及故障时安全锁止。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" y="5577840"/>
            <a:ext cx="91440" cy="256032"/>
          </a:xfrm>
          <a:prstGeom prst="rect">
            <a:avLst/>
          </a:prstGeom>
          <a:solidFill>
            <a:srgbClr val="D9485F"/>
          </a:solidFill>
          <a:ln w="12700">
            <a:solidFill>
              <a:srgbClr val="D948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肩关节、肘关节等长期抗重力姿态保持的轴常配置抱闸，以降低设备与安全风险。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" y="6355080"/>
            <a:ext cx="91440" cy="256032"/>
          </a:xfrm>
          <a:prstGeom prst="rect">
            <a:avLst/>
          </a:prstGeom>
          <a:solidFill>
            <a:srgbClr val="D9485F"/>
          </a:solidFill>
          <a:ln w="12700">
            <a:solidFill>
              <a:srgbClr val="D948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09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并非所有关节都必须集成抱闸，轻量化、小型化和低风险关节可能为了节省空间而省略。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0" y="5440680"/>
            <a:ext cx="3383280" cy="0"/>
          </a:xfrm>
          <a:prstGeom prst="line">
            <a:avLst/>
          </a:prstGeom>
          <a:noFill/>
          <a:ln w="19050">
            <a:solidFill>
              <a:srgbClr val="D948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5559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来源：机器人技术笔记《机器人关节模组一次讲透》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机器人关节模组</dc:title>
  <dc:subject>机器人关节模组</dc:subject>
  <dc:creator>OpenAI Codex</dc:creator>
  <cp:lastModifiedBy>OpenAI Codex</cp:lastModifiedBy>
  <cp:revision>1</cp:revision>
  <dcterms:created xsi:type="dcterms:W3CDTF">2026-06-15T12:33:14Z</dcterms:created>
  <dcterms:modified xsi:type="dcterms:W3CDTF">2026-06-15T12:33:14Z</dcterms:modified>
</cp:coreProperties>
</file>