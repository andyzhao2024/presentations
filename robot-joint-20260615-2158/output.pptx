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开场：机器人关节远不止一个电机，它是一整套高度集成的机电系统。标题页奠定全篇的系统工程视角。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五大核心部件的简要总览，帮助听众建立整体框架。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强调减速器不是纯粹的放大器，它引入摩擦、背隙和弹性，使控制复杂化。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高性能关节通常需要双编码器配置，因为减速器并非理想刚体，输出侧信息对高精度控制至关重要。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三条路线无绝对优劣，取决于应用场景。准直驱路线挑战在于转矩密度和散热。标准化是产业化关键变量。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83354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5715">
            <a:solidFill>
              <a:srgbClr val="10243C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5715">
            <a:solidFill>
              <a:srgbClr val="10243C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5715">
            <a:solidFill>
              <a:srgbClr val="183354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5715">
            <a:solidFill>
              <a:srgbClr val="10243C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5715">
            <a:solidFill>
              <a:srgbClr val="10243C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715">
            <a:solidFill>
              <a:srgbClr val="183354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5715">
            <a:solidFill>
              <a:srgbClr val="10243C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715">
            <a:solidFill>
              <a:srgbClr val="10243C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-420624"/>
            <a:ext cx="4297680" cy="4297680"/>
          </a:xfrm>
          <a:prstGeom prst="arc">
            <a:avLst/>
          </a:prstGeom>
          <a:noFill/>
          <a:ln w="20320">
            <a:solidFill>
              <a:srgbClr val="0066CC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274320"/>
            <a:ext cx="2926080" cy="2926080"/>
          </a:xfrm>
          <a:prstGeom prst="arc">
            <a:avLst/>
          </a:prstGeom>
          <a:noFill/>
          <a:ln w="16510">
            <a:solidFill>
              <a:srgbClr val="00A86B">
                <a:alpha val="8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170432"/>
            <a:ext cx="1024128" cy="1024128"/>
          </a:xfrm>
          <a:prstGeom prst="ellipse">
            <a:avLst/>
          </a:prstGeom>
          <a:solidFill>
            <a:srgbClr val="10294A">
              <a:alpha val="95000"/>
            </a:srgbClr>
          </a:solidFill>
          <a:ln w="1524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42248" y="1463040"/>
            <a:ext cx="438912" cy="43891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786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F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JOINT MODULE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6656" y="1481328"/>
            <a:ext cx="6583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机器人关节模组一次讲透</a:t>
            </a:r>
            <a:endParaRPr lang="en-US" sz="3700" dirty="0"/>
          </a:p>
        </p:txBody>
      </p:sp>
      <p:sp>
        <p:nvSpPr>
          <p:cNvPr id="18" name="Text 16"/>
          <p:cNvSpPr/>
          <p:nvPr/>
        </p:nvSpPr>
        <p:spPr>
          <a:xfrm>
            <a:off x="749808" y="29992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3E5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从机电系统视角拆解构成与设计逻辑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3913632"/>
            <a:ext cx="749808" cy="292608"/>
          </a:xfrm>
          <a:prstGeom prst="rect">
            <a:avLst/>
          </a:prstGeom>
          <a:solidFill>
            <a:srgbClr val="132A48"/>
          </a:solidFill>
          <a:ln w="9525">
            <a:solidFill>
              <a:srgbClr val="2948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92224" y="3913632"/>
            <a:ext cx="749808" cy="292608"/>
          </a:xfrm>
          <a:prstGeom prst="rect">
            <a:avLst/>
          </a:prstGeom>
          <a:solidFill>
            <a:srgbClr val="132A48"/>
          </a:solidFill>
          <a:ln w="9525">
            <a:solidFill>
              <a:srgbClr val="2948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4640" y="3913632"/>
            <a:ext cx="749808" cy="292608"/>
          </a:xfrm>
          <a:prstGeom prst="rect">
            <a:avLst/>
          </a:prstGeom>
          <a:solidFill>
            <a:srgbClr val="132A48"/>
          </a:solidFill>
          <a:ln w="9525">
            <a:solidFill>
              <a:srgbClr val="2948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77056" y="3913632"/>
            <a:ext cx="749808" cy="292608"/>
          </a:xfrm>
          <a:prstGeom prst="rect">
            <a:avLst/>
          </a:prstGeom>
          <a:solidFill>
            <a:srgbClr val="132A48"/>
          </a:solidFill>
          <a:ln w="9525">
            <a:solidFill>
              <a:srgbClr val="2948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19472" y="3913632"/>
            <a:ext cx="749808" cy="292608"/>
          </a:xfrm>
          <a:prstGeom prst="rect">
            <a:avLst/>
          </a:prstGeom>
          <a:solidFill>
            <a:srgbClr val="132A48"/>
          </a:solidFill>
          <a:ln w="9525">
            <a:solidFill>
              <a:srgbClr val="00A8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抱闸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47888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9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VIEW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44384" y="47548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不是单一零件, 而是动力、传动、感知与安全的紧耦合系统。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109960" y="62362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A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222992" y="6309360"/>
            <a:ext cx="749808" cy="0"/>
          </a:xfrm>
          <a:prstGeom prst="line">
            <a:avLst/>
          </a:prstGeom>
          <a:noFill/>
          <a:ln w="12700">
            <a:solidFill>
              <a:srgbClr val="2A4C7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关节的核心构成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五大部件共同决定关节的力矩密度、精度、响应与安全边界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76656" y="1920240"/>
            <a:ext cx="1865376" cy="32461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0160">
            <a:solidFill>
              <a:srgbClr val="E1E7E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2212848"/>
            <a:ext cx="804672" cy="804672"/>
          </a:xfrm>
          <a:prstGeom prst="ellipse">
            <a:avLst/>
          </a:prstGeom>
          <a:solidFill>
            <a:srgbClr val="E8F2FF"/>
          </a:solidFill>
          <a:ln w="1397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7824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电能到机械能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05256" y="4261104"/>
            <a:ext cx="14081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提供原始动力与响应上限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935224" y="1920240"/>
            <a:ext cx="1865376" cy="32461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0160">
            <a:solidFill>
              <a:srgbClr val="E1E7E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65576" y="2212848"/>
            <a:ext cx="804672" cy="804672"/>
          </a:xfrm>
          <a:prstGeom prst="ellipse">
            <a:avLst/>
          </a:prstGeom>
          <a:solidFill>
            <a:srgbClr val="E8F2FF"/>
          </a:solidFill>
          <a:ln w="1397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36392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36392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降速增扭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63824" y="4261104"/>
            <a:ext cx="14081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决定输出力矩、刚度与背隙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193792" y="1920240"/>
            <a:ext cx="1865376" cy="32461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0160">
            <a:solidFill>
              <a:srgbClr val="E1E7E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24144" y="2212848"/>
            <a:ext cx="804672" cy="804672"/>
          </a:xfrm>
          <a:prstGeom prst="ellipse">
            <a:avLst/>
          </a:prstGeom>
          <a:solidFill>
            <a:srgbClr val="E8F2FF"/>
          </a:solidFill>
          <a:ln w="1397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94960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94960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算法到电信号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22392" y="4261104"/>
            <a:ext cx="14081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执行电流、速度、位置闭环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452360" y="1920240"/>
            <a:ext cx="1865376" cy="32461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0160">
            <a:solidFill>
              <a:srgbClr val="E1E7E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82712" y="2212848"/>
            <a:ext cx="804672" cy="804672"/>
          </a:xfrm>
          <a:prstGeom prst="ellipse">
            <a:avLst/>
          </a:prstGeom>
          <a:solidFill>
            <a:srgbClr val="E8F2FF"/>
          </a:solidFill>
          <a:ln w="13970">
            <a:solidFill>
              <a:srgbClr val="0066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9016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53528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53528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位置反馈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680960" y="4261104"/>
            <a:ext cx="14081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让控制从开环进入闭环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9710928" y="1920240"/>
            <a:ext cx="1865376" cy="32461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0160">
            <a:solidFill>
              <a:srgbClr val="E1E7E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41280" y="2212848"/>
            <a:ext cx="804672" cy="804672"/>
          </a:xfrm>
          <a:prstGeom prst="ellipse">
            <a:avLst/>
          </a:prstGeom>
          <a:solidFill>
            <a:srgbClr val="E8F8F1"/>
          </a:solidFill>
          <a:ln w="13970">
            <a:solidFill>
              <a:srgbClr val="00A8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87584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912096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抱闸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12096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断电保持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939528" y="4261104"/>
            <a:ext cx="14081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实现安全制动和姿态保持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1572768" y="5468112"/>
            <a:ext cx="8741664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68096" y="53766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能量输入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360152" y="53766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受控输出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09960" y="62362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222992" y="6309360"/>
            <a:ext cx="749808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TRAIN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 + 减速器：动力心脏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电机提供高速小力矩, 减速器把它转化为关节真正需要的低速大力矩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49808" y="1719072"/>
            <a:ext cx="3886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E0E7F0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993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5420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高速小力矩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2735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优势是响应快、效率高；短板是直接输出不足以承担关节负载。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2121408"/>
            <a:ext cx="694944" cy="694944"/>
          </a:xfrm>
          <a:prstGeom prst="ellipse">
            <a:avLst/>
          </a:prstGeom>
          <a:solidFill>
            <a:srgbClr val="E8F2FF"/>
          </a:solidFill>
          <a:ln w="15240">
            <a:solidFill>
              <a:srgbClr val="006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2322576"/>
            <a:ext cx="292608" cy="292608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3364992"/>
            <a:ext cx="2487168" cy="0"/>
          </a:xfrm>
          <a:prstGeom prst="line">
            <a:avLst/>
          </a:prstGeom>
          <a:noFill/>
          <a:ln w="2540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76672" y="2971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减速增扭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1719072"/>
            <a:ext cx="3886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E0E7F0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54112" y="1993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54112" y="25420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低速大力矩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0" y="32735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控制性不是免费获得的：摩擦、背隙、弹性会被一起带进系统模型。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5779008"/>
            <a:ext cx="2240280" cy="256032"/>
          </a:xfrm>
          <a:prstGeom prst="rect">
            <a:avLst/>
          </a:prstGeom>
          <a:solidFill>
            <a:srgbClr val="E8F2FF"/>
          </a:solidFill>
          <a:ln w="8255">
            <a:solidFill>
              <a:srgbClr val="BCD8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谐波  高精度、紧凑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800600" y="5779008"/>
            <a:ext cx="2240280" cy="256032"/>
          </a:xfrm>
          <a:prstGeom prst="rect">
            <a:avLst/>
          </a:prstGeom>
          <a:solidFill>
            <a:srgbClr val="E8F2FF"/>
          </a:solidFill>
          <a:ln w="8255">
            <a:solidFill>
              <a:srgbClr val="BCD8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  高刚度、耐冲击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772400" y="5779008"/>
            <a:ext cx="2240280" cy="256032"/>
          </a:xfrm>
          <a:prstGeom prst="rect">
            <a:avLst/>
          </a:prstGeom>
          <a:solidFill>
            <a:srgbClr val="E8F8F1"/>
          </a:solidFill>
          <a:ln w="8255">
            <a:solidFill>
              <a:srgbClr val="BFEED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A8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行星  低减速比、高效率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1109960" y="62362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222992" y="6309360"/>
            <a:ext cx="749808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LOOP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驱动器 + 编码器：精准闭环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驱动器把控制算法落到电流, 编码器把真实运动带回控制器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41248" y="1755648"/>
            <a:ext cx="2926080" cy="36393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0E7F0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2057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3856" y="2670048"/>
            <a:ext cx="212140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功率驱动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914400" y="2734056"/>
            <a:ext cx="73152" cy="73152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3054096"/>
            <a:ext cx="212140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电流环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14400" y="3118104"/>
            <a:ext cx="73152" cy="73152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3438144"/>
            <a:ext cx="212140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速度环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914400" y="3502152"/>
            <a:ext cx="73152" cy="73152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822192"/>
            <a:ext cx="212140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位置环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73152" cy="73152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4206240"/>
            <a:ext cx="212140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过流/过温保护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14400" y="4270248"/>
            <a:ext cx="73152" cy="7315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4590288"/>
            <a:ext cx="212140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故障检测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14400" y="4654296"/>
            <a:ext cx="73152" cy="7315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2103120"/>
            <a:ext cx="3346704" cy="2889504"/>
          </a:xfrm>
          <a:prstGeom prst="roundRect">
            <a:avLst>
              <a:gd name="adj" fmla="val 2532"/>
            </a:avLst>
          </a:prstGeom>
          <a:solidFill>
            <a:srgbClr val="0A1628"/>
          </a:solidFill>
          <a:ln w="12700">
            <a:solidFill>
              <a:srgbClr val="1A3658"/>
            </a:solidFill>
            <a:prstDash val="solid"/>
          </a:ln>
          <a:effectLst>
            <a:outerShdw sx="100000" sy="100000" kx="0" ky="0" algn="bl" rotWithShape="0" blurRad="30480" dist="508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闭环控制链路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36592" y="3364992"/>
            <a:ext cx="548640" cy="54864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56616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5449824" y="3712464"/>
            <a:ext cx="548640" cy="54864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91363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</a:t>
            </a:r>
            <a:endParaRPr lang="en-US" sz="580" dirty="0"/>
          </a:p>
        </p:txBody>
      </p:sp>
      <p:sp>
        <p:nvSpPr>
          <p:cNvPr id="25" name="Shape 23"/>
          <p:cNvSpPr/>
          <p:nvPr/>
        </p:nvSpPr>
        <p:spPr>
          <a:xfrm>
            <a:off x="6163056" y="3364992"/>
            <a:ext cx="548640" cy="54864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56616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6876288" y="3712464"/>
            <a:ext cx="548640" cy="54864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391363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4681728" y="3054096"/>
            <a:ext cx="2697480" cy="1298448"/>
          </a:xfrm>
          <a:prstGeom prst="arc">
            <a:avLst/>
          </a:prstGeom>
          <a:noFill/>
          <a:ln w="15240">
            <a:solidFill>
              <a:srgbClr val="87BBF3">
                <a:alpha val="9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1755648"/>
            <a:ext cx="2926080" cy="36393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0E7F0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32520" y="2057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双编码器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32520" y="2743200"/>
            <a:ext cx="2057400" cy="658368"/>
          </a:xfrm>
          <a:prstGeom prst="roundRect">
            <a:avLst>
              <a:gd name="adj" fmla="val 8333"/>
            </a:avLst>
          </a:prstGeom>
          <a:solidFill>
            <a:srgbClr val="E8F2FF"/>
          </a:solidFill>
          <a:ln w="9525">
            <a:solidFill>
              <a:srgbClr val="B8D8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2832" y="28620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电机端编码器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942832" y="31181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服务高频伺服控制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732520" y="3767328"/>
            <a:ext cx="2057400" cy="658368"/>
          </a:xfrm>
          <a:prstGeom prst="roundRect">
            <a:avLst>
              <a:gd name="adj" fmla="val 8333"/>
            </a:avLst>
          </a:prstGeom>
          <a:solidFill>
            <a:srgbClr val="E8F8F1"/>
          </a:solidFill>
          <a:ln w="9525">
            <a:solidFill>
              <a:srgbClr val="B8E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42832" y="3886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输出端编码器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942832" y="414223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补偿减速器弹性变形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67328" y="3474720"/>
            <a:ext cx="603504" cy="0"/>
          </a:xfrm>
          <a:prstGeom prst="line">
            <a:avLst/>
          </a:prstGeom>
          <a:noFill/>
          <a:ln w="1524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772400" y="3474720"/>
            <a:ext cx="603504" cy="0"/>
          </a:xfrm>
          <a:prstGeom prst="line">
            <a:avLst/>
          </a:prstGeom>
          <a:noFill/>
          <a:ln w="15240">
            <a:solidFill>
              <a:srgbClr val="00A86B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1109960" y="62362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222992" y="6309360"/>
            <a:ext cx="749808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66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F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ROUTES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94183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三大技术路线与趋势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86384" y="1901952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101F36"/>
          </a:solidFill>
          <a:ln w="12700">
            <a:solidFill>
              <a:srgbClr val="244464"/>
            </a:solidFill>
            <a:prstDash val="solid"/>
          </a:ln>
          <a:effectLst>
            <a:outerShdw sx="100000" sy="100000" kx="0" ky="0" algn="bl" rotWithShape="0" blurRad="31750" dist="50800" dir="2700000">
              <a:srgbClr val="000000">
                <a:alpha val="2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0704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刚性关节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0704" y="276148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D9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谐波减速器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" y="3200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精度优先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35424" y="1901952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101F36"/>
          </a:solidFill>
          <a:ln w="12700">
            <a:solidFill>
              <a:srgbClr val="244464"/>
            </a:solidFill>
            <a:prstDash val="solid"/>
          </a:ln>
          <a:effectLst>
            <a:outerShdw sx="100000" sy="100000" kx="0" ky="0" algn="bl" rotWithShape="0" blurRad="31750" dist="50800" dir="2700000">
              <a:srgbClr val="000000">
                <a:alpha val="2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9744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弹性关节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9744" y="276148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D9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谐波 + 弹性元件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9744" y="3200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精度与安全折中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284464" y="1901952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101F36"/>
          </a:solidFill>
          <a:ln w="12700">
            <a:solidFill>
              <a:srgbClr val="00A86B"/>
            </a:solidFill>
            <a:prstDash val="solid"/>
          </a:ln>
          <a:effectLst>
            <a:outerShdw sx="100000" sy="100000" kx="0" ky="0" algn="bl" rotWithShape="0" blurRad="31750" dist="50800" dir="2700000">
              <a:srgbClr val="000000">
                <a:alpha val="2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58784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准直驱关节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58784" y="276148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BEB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低减速比行星 + 高性能电机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58784" y="3200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A8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力控优先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87552" y="4645152"/>
            <a:ext cx="10012680" cy="0"/>
          </a:xfrm>
          <a:prstGeom prst="line">
            <a:avLst/>
          </a:prstGeom>
          <a:noFill/>
          <a:ln w="13970">
            <a:solidFill>
              <a:srgbClr val="28496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4443984"/>
            <a:ext cx="384048" cy="384048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5604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CE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局部控制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749040" y="4443984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495604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CE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自诊断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355080" y="4443984"/>
            <a:ext cx="384048" cy="384048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495604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CE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安全保护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961120" y="4443984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495604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CE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标准化降本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41248" y="5687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趋势判断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01952" y="56692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减速器从“核心放大器”变成系统的一部分，关节模组继续向智能节点演进。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09960" y="62362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A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0222992" y="6309360"/>
            <a:ext cx="749808" cy="0"/>
          </a:xfrm>
          <a:prstGeom prst="line">
            <a:avLst/>
          </a:prstGeom>
          <a:noFill/>
          <a:ln w="12700">
            <a:solidFill>
              <a:srgbClr val="2A4C7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机器人关节模组一次讲透</dc:title>
  <dc:subject>机器人关节模组</dc:subject>
  <dc:creator>Hermes Codex</dc:creator>
  <cp:lastModifiedBy>Hermes Codex</cp:lastModifiedBy>
  <cp:revision>1</cp:revision>
  <dcterms:created xsi:type="dcterms:W3CDTF">2026-06-15T14:05:38Z</dcterms:created>
  <dcterms:modified xsi:type="dcterms:W3CDTF">2026-06-15T14:05:38Z</dcterms:modified>
</cp:coreProperties>
</file>