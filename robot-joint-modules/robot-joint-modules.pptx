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94360" y="502920"/>
            <a:ext cx="1280160" cy="109728"/>
          </a:xfrm>
          <a:prstGeom prst="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 anchor="mid" lIns="91440" rIns="91440" tIns="45720" bIns="45720"/>
          <a:lstStyle/>
          <a:p>
            <a:pPr algn="l"/>
            <a:r>
              <a:rPr lang="zh-CN" sz="100" dirty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91440" rIns="91440" tIns="45720" bIns="45720"/>
          <a:lstStyle/>
          <a:p>
            <a:pPr algn="c"/>
            <a:r>
              <a:rPr lang="zh-CN" sz="3800" dirty="0" b="1">
                <a:solidFill>
                  <a:srgbClr val="FFFFFF"/>
                </a:solidFill>
                <a:latin typeface="Microsoft YaHei"/>
                <a:ea typeface="Microsoft YaHei"/>
              </a:rPr>
              <a:t>机器人关节模组</a:t>
            </a:r>
          </a:p>
          <a:p>
            <a:pPr algn="c"/>
            <a:r>
              <a:rPr lang="zh-CN" sz="3800" dirty="0" b="1">
                <a:solidFill>
                  <a:srgbClr val="FFFFFF"/>
                </a:solidFill>
                <a:latin typeface="Microsoft YaHei"/>
                <a:ea typeface="Microsoft YaHei"/>
              </a:rPr>
              <a:t>Robot Joint Module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874520" y="2788920"/>
            <a:ext cx="8458200" cy="658368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0066CC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c"/>
            <a:r>
              <a:rPr lang="zh-CN" sz="2200" dirty="0">
                <a:solidFill>
                  <a:srgbClr val="DDEBFF"/>
                </a:solidFill>
                <a:latin typeface="Microsoft YaHei"/>
                <a:ea typeface="Microsoft YaHei"/>
              </a:rPr>
              <a:t>五大核心组件：电机 · 减速器 · 驱动器 · 编码器 · 抱闸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280160" y="3977640"/>
            <a:ext cx="9646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91440" rIns="91440" tIns="45720" bIns="45720"/>
          <a:lstStyle/>
          <a:p>
            <a:pPr algn="c"/>
            <a:r>
              <a:rPr lang="zh-CN" sz="2100" dirty="0">
                <a:solidFill>
                  <a:srgbClr val="C9D7EA"/>
                </a:solidFill>
                <a:latin typeface="Microsoft YaHei"/>
                <a:ea typeface="Microsoft YaHei"/>
              </a:rPr>
              <a:t>关节不是“一个会转的电机”，而是在有限空间内平衡力矩、精度、响应、尺寸与可靠性的机电一体化系统。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502920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91440" rIns="91440" tIns="45720" bIns="45720"/>
          <a:lstStyle/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Motor &amp; Reducer</a:t>
            </a:r>
          </a:p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动力产生与力矩转换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1508760"/>
            <a:ext cx="5257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>电机 Motor</a:t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>把电能转换为旋转机械能，是关节的原始动力来源。机器人常用伺服电机，因为关节需要精确控制位置、速度与力矩，而不仅是“能转”。</a:t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>决定：动力上限、动态响应、频繁启停能力。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263640" y="1508760"/>
            <a:ext cx="5257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>减速器 Reducer</a:t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>把高速小力矩变成低速大力矩，并提升输出侧控制分辨率。常见类型包括谐波、RV、行星减速器。</a:t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200" dirty="0">
                <a:solidFill>
                  <a:srgbClr val="0A1628"/>
                </a:solidFill>
                <a:latin typeface="Microsoft YaHei"/>
                <a:ea typeface="Microsoft YaHei"/>
              </a:rPr>
              <a:t>权衡：力矩放大 vs. 摩擦、回差、效率损失。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868680" y="1691640"/>
            <a:ext cx="201168" cy="502920"/>
          </a:xfrm>
          <a:prstGeom prst="round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 anchor="mid" lIns="91440" rIns="91440" tIns="45720" bIns="45720"/>
          <a:lstStyle/>
          <a:p>
            <a:pPr algn="l"/>
            <a:r>
              <a:rPr lang="zh-CN" sz="100" dirty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6446520" y="1691640"/>
            <a:ext cx="201168" cy="502920"/>
          </a:xfrm>
          <a:prstGeom prst="round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 anchor="mid" lIns="91440" rIns="91440" tIns="45720" bIns="45720"/>
          <a:lstStyle/>
          <a:p>
            <a:pPr algn="l"/>
            <a:r>
              <a:rPr lang="zh-CN" sz="100" dirty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502920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91440" rIns="91440" tIns="45720" bIns="45720"/>
          <a:lstStyle/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Driver</a:t>
            </a:r>
          </a:p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让电机按要求工作的控制执行单元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731520" y="1508760"/>
            <a:ext cx="5852160" cy="452628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1B3B63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400" dirty="0">
                <a:solidFill>
                  <a:srgbClr val="EAF3FF"/>
                </a:solidFill>
                <a:latin typeface="Microsoft YaHei"/>
                <a:ea typeface="Microsoft YaHei"/>
              </a:rPr>
              <a:t>驱动器位于控制命令与电机之间。上层控制器提出目标，例如位置、速度或力矩；驱动器把目标转换为电流、电压与闭环控制动作，让电机真正按要求运行。</a:t>
            </a:r>
          </a:p>
          <a:p>
            <a:pPr algn="l"/>
            <a:r>
              <a:rPr lang="zh-CN" sz="2400" dirty="0">
                <a:solidFill>
                  <a:srgbClr val="EAF3FF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400" dirty="0">
                <a:solidFill>
                  <a:srgbClr val="EAF3FF"/>
                </a:solidFill>
                <a:latin typeface="Microsoft YaHei"/>
                <a:ea typeface="Microsoft YaHei"/>
              </a:rPr>
              <a:t>它决定关节是否“听话”：响应是否快、控制是否稳、保护是否及时、通信是否可靠。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903720" y="1508760"/>
            <a:ext cx="4251960" cy="12344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2D8CFF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000" dirty="0">
                <a:solidFill>
                  <a:srgbClr val="FFFFFF"/>
                </a:solidFill>
                <a:latin typeface="Microsoft YaHei"/>
                <a:ea typeface="Microsoft YaHei"/>
              </a:rPr>
              <a:t>功率变换</a:t>
            </a:r>
          </a:p>
          <a:p>
            <a:pPr algn="l"/>
            <a:r>
              <a:rPr lang="zh-CN" sz="2000" dirty="0">
                <a:solidFill>
                  <a:srgbClr val="FFFFFF"/>
                </a:solidFill>
                <a:latin typeface="Microsoft YaHei"/>
                <a:ea typeface="Microsoft YaHei"/>
              </a:rPr>
              <a:t>把电源转换为电机需要的相电流/电压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903720" y="3154680"/>
            <a:ext cx="4251960" cy="1234440"/>
          </a:xfrm>
          <a:prstGeom prst="roundRect">
            <a:avLst/>
          </a:prstGeom>
          <a:solidFill>
            <a:srgbClr val="12385F"/>
          </a:solidFill>
          <a:ln w="12700">
            <a:solidFill>
              <a:srgbClr val="2D8CFF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000" dirty="0">
                <a:solidFill>
                  <a:srgbClr val="FFFFFF"/>
                </a:solidFill>
                <a:latin typeface="Microsoft YaHei"/>
                <a:ea typeface="Microsoft YaHei"/>
              </a:rPr>
              <a:t>闭环控制</a:t>
            </a:r>
          </a:p>
          <a:p>
            <a:pPr algn="l"/>
            <a:r>
              <a:rPr lang="zh-CN" sz="2000" dirty="0">
                <a:solidFill>
                  <a:srgbClr val="FFFFFF"/>
                </a:solidFill>
                <a:latin typeface="Microsoft YaHei"/>
                <a:ea typeface="Microsoft YaHei"/>
              </a:rPr>
              <a:t>执行位置、速度、力矩控制环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903720" y="4800600"/>
            <a:ext cx="4251960" cy="1234440"/>
          </a:xfrm>
          <a:prstGeom prst="roundRect">
            <a:avLst/>
          </a:prstGeom>
          <a:solidFill>
            <a:srgbClr val="12385F"/>
          </a:solidFill>
          <a:ln w="12700">
            <a:solidFill>
              <a:srgbClr val="2D8CFF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000" dirty="0">
                <a:solidFill>
                  <a:srgbClr val="FFFFFF"/>
                </a:solidFill>
                <a:latin typeface="Microsoft YaHei"/>
                <a:ea typeface="Microsoft YaHei"/>
              </a:rPr>
              <a:t>通信与保护</a:t>
            </a:r>
          </a:p>
          <a:p>
            <a:pPr algn="l"/>
            <a:r>
              <a:rPr lang="zh-CN" sz="2000" dirty="0">
                <a:solidFill>
                  <a:srgbClr val="FFFFFF"/>
                </a:solidFill>
                <a:latin typeface="Microsoft YaHei"/>
                <a:ea typeface="Microsoft YaHei"/>
              </a:rPr>
              <a:t>接收总线命令，处理过流/过温等故障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502920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91440" rIns="91440" tIns="45720" bIns="45720"/>
          <a:lstStyle/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Encoder &amp; Brake</a:t>
            </a:r>
          </a:p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感知位置，守住安全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>编码器 Encoder</a:t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>为关节提供位置和速度反馈，是闭环控制的“眼睛”。没有反馈，控制器无法确认关节实际到了哪里，也无法修正误差。</a:t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>价值：精度、重复定位、速度估计、力控基础。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>抱闸 Brake</a:t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>在断电、急停或需要保持姿态时锁住关节，防止重力或外力导致轴下滑。常见于垂直轴、重载轴和安全要求高的场景。</a:t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300" dirty="0">
                <a:solidFill>
                  <a:srgbClr val="0A1628"/>
                </a:solidFill>
                <a:latin typeface="Microsoft YaHei"/>
                <a:ea typeface="Microsoft YaHei"/>
              </a:rPr>
              <a:t>价值：失电保护、姿态保持、系统安全。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960120" y="5349240"/>
            <a:ext cx="10287000" cy="411480"/>
          </a:xfrm>
          <a:prstGeom prst="round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 anchor="mid" lIns="91440" rIns="91440" tIns="45720" bIns="45720"/>
          <a:lstStyle/>
          <a:p>
            <a:pPr algn="c"/>
            <a:r>
              <a:rPr lang="zh-CN" sz="1800" dirty="0">
                <a:solidFill>
                  <a:srgbClr val="FFFFFF"/>
                </a:solidFill>
                <a:latin typeface="Microsoft YaHei"/>
                <a:ea typeface="Microsoft YaHei"/>
              </a:rPr>
              <a:t>反馈保证可控，制动保证可守。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502920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91440" rIns="91440" tIns="45720" bIns="45720"/>
          <a:lstStyle/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  <a:p>
            <a:pPr algn="c"/>
            <a:r>
              <a:rPr lang="zh-CN" sz="3000" dirty="0" b="1">
                <a:solidFill>
                  <a:srgbClr val="FFFFFF"/>
                </a:solidFill>
                <a:latin typeface="Microsoft YaHei"/>
                <a:ea typeface="Microsoft YaHei"/>
              </a:rPr>
              <a:t>关节模组是五类组件协同后的系统能力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1874520"/>
            <a:ext cx="2148840" cy="214884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0066CC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电机</a:t>
            </a:r>
          </a:p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动力来源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2788920" y="1874520"/>
            <a:ext cx="2148840" cy="214884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0066CC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减速器</a:t>
            </a:r>
          </a:p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降速增矩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74920" y="1874520"/>
            <a:ext cx="2148840" cy="214884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0066CC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驱动器</a:t>
            </a:r>
          </a:p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控制执行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360920" y="1874520"/>
            <a:ext cx="2148840" cy="214884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0066CC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编码器</a:t>
            </a:r>
          </a:p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状态反馈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646920" y="1874520"/>
            <a:ext cx="2148840" cy="214884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0066CC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抱闸</a:t>
            </a:r>
          </a:p>
          <a:p>
            <a:pPr algn="c"/>
            <a:r>
              <a:rPr lang="zh-CN" sz="2200" dirty="0">
                <a:solidFill>
                  <a:srgbClr val="FFFFFF"/>
                </a:solidFill>
                <a:latin typeface="Microsoft YaHei"/>
                <a:ea typeface="Microsoft YaHei"/>
              </a:rPr>
              <a:t>安全保持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051560" y="4709160"/>
            <a:ext cx="10058400" cy="96012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2D8CFF"/>
            </a:solidFill>
          </a:ln>
          <a:effectLst>
            <a:outerShdw blurRad="45720" dist="38100" dir="5400000" algn="ctr" rotWithShape="0">
              <a:srgbClr val="000000">
                <a:alpha val="25000"/>
              </a:srgbClr>
            </a:outerShdw>
          </a:effectLst>
        </p:spPr>
        <p:txBody>
          <a:bodyPr wrap="square" anchor="mid" lIns="91440" rIns="91440" tIns="45720" bIns="45720"/>
          <a:lstStyle/>
          <a:p>
            <a:pPr algn="c"/>
            <a:r>
              <a:rPr lang="zh-CN" sz="2300" dirty="0">
                <a:solidFill>
                  <a:srgbClr val="FFFFFF"/>
                </a:solidFill>
                <a:latin typeface="Microsoft YaHei"/>
                <a:ea typeface="Microsoft YaHei"/>
              </a:rPr>
              <a:t>关键洞察：机器人关节的竞争力不来自单一零件，而来自电机、传动、功率电子、传感反馈与安全机构的集成平衡。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机器人关节模组</dc:title>
  <dc:creator>Codex</dc:creator>
  <cp:lastModifiedBy>Codex</cp:lastModifiedBy>
  <dcterms:created xsi:type="dcterms:W3CDTF">2026-06-15T00:00:00Z</dcterms:created>
  <dcterms:modified xsi:type="dcterms:W3CDTF">2026-06-15T00:00:00Z</dcterms:modified>
</cp:coreProperties>
</file>